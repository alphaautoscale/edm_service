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9658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96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1821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직사각형 74"/>
          <p:cNvSpPr/>
          <p:nvPr/>
        </p:nvSpPr>
        <p:spPr>
          <a:xfrm>
            <a:off x="10302848" y="6078892"/>
            <a:ext cx="1194367" cy="421819"/>
          </a:xfrm>
          <a:prstGeom prst="rect">
            <a:avLst/>
          </a:prstGeom>
          <a:solidFill>
            <a:srgbClr val="ebdef1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1925269" y="888711"/>
            <a:ext cx="9568230" cy="5190181"/>
          </a:xfrm>
          <a:prstGeom prst="rect">
            <a:avLst/>
          </a:prstGeom>
          <a:solidFill>
            <a:srgbClr val="cdf2e4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494667" y="888711"/>
            <a:ext cx="1430601" cy="5190181"/>
          </a:xfrm>
          <a:prstGeom prst="rect">
            <a:avLst/>
          </a:prstGeom>
          <a:solidFill>
            <a:srgbClr val="f4e5b2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116185" y="1477136"/>
            <a:ext cx="2562815" cy="3331089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16397" y="1477136"/>
            <a:ext cx="2562815" cy="3331089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4705950" y="933494"/>
            <a:ext cx="1383279" cy="54097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/>
              <a:t>AP </a:t>
            </a:r>
            <a:r>
              <a:rPr lang="ko-KR" altLang="en-US"/>
              <a:t>서버</a:t>
            </a:r>
            <a:endParaRPr lang="ko-KR" altLang="en-US"/>
          </a:p>
          <a:p>
            <a:pPr lvl="0" algn="ctr">
              <a:defRPr/>
            </a:pPr>
            <a:r>
              <a:rPr lang="en-US" altLang="ko-KR" sz="1200"/>
              <a:t>192.168.43.110</a:t>
            </a:r>
            <a:endParaRPr lang="en-US" altLang="ko-KR" sz="1200"/>
          </a:p>
        </p:txBody>
      </p:sp>
      <p:sp>
        <p:nvSpPr>
          <p:cNvPr id="7" name="가로 글상자 6"/>
          <p:cNvSpPr txBox="1"/>
          <p:nvPr/>
        </p:nvSpPr>
        <p:spPr>
          <a:xfrm>
            <a:off x="8892762" y="915862"/>
            <a:ext cx="1410086" cy="53955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/>
              <a:t>분리보관</a:t>
            </a:r>
            <a:endParaRPr lang="ko-KR" altLang="en-US"/>
          </a:p>
          <a:p>
            <a:pPr lvl="0" algn="ctr">
              <a:defRPr/>
            </a:pPr>
            <a:r>
              <a:rPr lang="en-US" altLang="ko-KR" sz="1200"/>
              <a:t>192.168.43.111</a:t>
            </a:r>
            <a:endParaRPr lang="en-US" altLang="ko-KR" sz="1200"/>
          </a:p>
        </p:txBody>
      </p:sp>
      <p:sp>
        <p:nvSpPr>
          <p:cNvPr id="8" name="직사각형 7"/>
          <p:cNvSpPr/>
          <p:nvPr/>
        </p:nvSpPr>
        <p:spPr>
          <a:xfrm>
            <a:off x="4236820" y="1592614"/>
            <a:ext cx="2321546" cy="1822004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파일 관리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364210" y="1926800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암복호화 모듈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364210" y="2369173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파일 관리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43574" y="3527376"/>
            <a:ext cx="2321546" cy="1180461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파일 뷰어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364210" y="2811546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Oracle</a:t>
            </a:r>
            <a:endParaRPr lang="en-US" altLang="ko-KR" sz="150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364210" y="3935631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파일 뷰어</a:t>
            </a:r>
            <a:r>
              <a:rPr lang="en-US" altLang="ko-KR" sz="1500">
                <a:solidFill>
                  <a:schemeClr val="tx1"/>
                </a:solidFill>
              </a:rPr>
              <a:t>(Http)</a:t>
            </a:r>
            <a:endParaRPr lang="en-US" altLang="ko-KR" sz="150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8437032" y="1592614"/>
            <a:ext cx="2321546" cy="1822004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분리보관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557667" y="1926800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분리보관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557667" y="2369173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파기 솔루션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557667" y="2811547"/>
            <a:ext cx="2080276" cy="363951"/>
          </a:xfrm>
          <a:prstGeom prst="rect">
            <a:avLst/>
          </a:prstGeom>
          <a:solidFill>
            <a:schemeClr val="lt1"/>
          </a:solidFill>
          <a:ln w="12700">
            <a:solidFill>
              <a:srgbClr val="44444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13" rIns="0" bIns="0" anchor="t" anchorCtr="0"/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Oracle</a:t>
            </a:r>
            <a:endParaRPr lang="en-US" altLang="ko-KR" sz="1500">
              <a:solidFill>
                <a:schemeClr val="tx1"/>
              </a:solidFill>
            </a:endParaRPr>
          </a:p>
        </p:txBody>
      </p:sp>
      <p:cxnSp>
        <p:nvCxnSpPr>
          <p:cNvPr id="22" name="화살표 21"/>
          <p:cNvCxnSpPr/>
          <p:nvPr/>
        </p:nvCxnSpPr>
        <p:spPr>
          <a:xfrm>
            <a:off x="6558366" y="2606774"/>
            <a:ext cx="1878665" cy="0"/>
          </a:xfrm>
          <a:prstGeom prst="straightConnector1">
            <a:avLst/>
          </a:prstGeom>
          <a:ln>
            <a:solidFill>
              <a:srgbClr val="1b1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가로 글상자 22"/>
          <p:cNvSpPr txBox="1"/>
          <p:nvPr/>
        </p:nvSpPr>
        <p:spPr>
          <a:xfrm>
            <a:off x="7078312" y="2209179"/>
            <a:ext cx="845528" cy="446391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1200"/>
              <a:t>22012</a:t>
            </a:r>
            <a:endParaRPr lang="en-US" altLang="ko-KR" sz="1200"/>
          </a:p>
          <a:p>
            <a:pPr lvl="0" algn="ctr">
              <a:defRPr/>
            </a:pPr>
            <a:r>
              <a:rPr lang="en-US" altLang="ko-KR" sz="1200"/>
              <a:t>TCP/IP</a:t>
            </a:r>
            <a:endParaRPr lang="en-US" altLang="ko-KR" sz="1200"/>
          </a:p>
        </p:txBody>
      </p:sp>
      <p:cxnSp>
        <p:nvCxnSpPr>
          <p:cNvPr id="24" name="화살표 23"/>
          <p:cNvCxnSpPr/>
          <p:nvPr/>
        </p:nvCxnSpPr>
        <p:spPr>
          <a:xfrm rot="10800000">
            <a:off x="6547292" y="2938114"/>
            <a:ext cx="1889738" cy="0"/>
          </a:xfrm>
          <a:prstGeom prst="straightConnector1">
            <a:avLst/>
          </a:prstGeom>
          <a:ln>
            <a:solidFill>
              <a:srgbClr val="1b1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가로 글상자 24"/>
          <p:cNvSpPr txBox="1"/>
          <p:nvPr/>
        </p:nvSpPr>
        <p:spPr>
          <a:xfrm>
            <a:off x="7082977" y="2977142"/>
            <a:ext cx="829443" cy="44995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1200"/>
              <a:t>32012</a:t>
            </a:r>
            <a:endParaRPr lang="en-US" altLang="ko-KR" sz="1200"/>
          </a:p>
          <a:p>
            <a:pPr lvl="0" algn="ctr">
              <a:defRPr/>
            </a:pPr>
            <a:r>
              <a:rPr lang="en-US" altLang="ko-KR" sz="1200"/>
              <a:t>TCP/IP</a:t>
            </a:r>
            <a:endParaRPr lang="en-US" altLang="ko-KR" sz="1200"/>
          </a:p>
        </p:txBody>
      </p:sp>
      <p:sp>
        <p:nvSpPr>
          <p:cNvPr id="27" name="타원 26"/>
          <p:cNvSpPr/>
          <p:nvPr/>
        </p:nvSpPr>
        <p:spPr>
          <a:xfrm>
            <a:off x="775469" y="3098953"/>
            <a:ext cx="769697" cy="769697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가로 글상자 27"/>
          <p:cNvSpPr txBox="1"/>
          <p:nvPr/>
        </p:nvSpPr>
        <p:spPr>
          <a:xfrm>
            <a:off x="839270" y="3971155"/>
            <a:ext cx="737344" cy="26907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200"/>
              <a:t>사용자</a:t>
            </a:r>
            <a:endParaRPr lang="ko-KR" altLang="en-US" sz="1200"/>
          </a:p>
        </p:txBody>
      </p:sp>
      <p:cxnSp>
        <p:nvCxnSpPr>
          <p:cNvPr id="48" name="화살표 47"/>
          <p:cNvCxnSpPr/>
          <p:nvPr/>
        </p:nvCxnSpPr>
        <p:spPr>
          <a:xfrm>
            <a:off x="1695412" y="3483801"/>
            <a:ext cx="56976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선 48"/>
          <p:cNvCxnSpPr/>
          <p:nvPr/>
        </p:nvCxnSpPr>
        <p:spPr>
          <a:xfrm rot="16200000" flipH="1" flipV="1">
            <a:off x="-667240" y="3479865"/>
            <a:ext cx="518574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가로 글상자 51"/>
          <p:cNvSpPr txBox="1"/>
          <p:nvPr/>
        </p:nvSpPr>
        <p:spPr>
          <a:xfrm>
            <a:off x="639250" y="1018032"/>
            <a:ext cx="737344" cy="26907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200"/>
              <a:t>외부망</a:t>
            </a:r>
            <a:endParaRPr lang="ko-KR" altLang="en-US" sz="1200"/>
          </a:p>
        </p:txBody>
      </p:sp>
      <p:sp>
        <p:nvSpPr>
          <p:cNvPr id="54" name="가로 글상자 53"/>
          <p:cNvSpPr txBox="1"/>
          <p:nvPr/>
        </p:nvSpPr>
        <p:spPr>
          <a:xfrm>
            <a:off x="2097134" y="1018032"/>
            <a:ext cx="737344" cy="26907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200"/>
              <a:t>내부망</a:t>
            </a:r>
            <a:endParaRPr lang="ko-KR" altLang="en-US" sz="120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95412" y="1152571"/>
            <a:ext cx="459712" cy="459712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38546" y="5320574"/>
            <a:ext cx="429654" cy="429654"/>
          </a:xfrm>
          <a:prstGeom prst="rect">
            <a:avLst/>
          </a:prstGeom>
        </p:spPr>
      </p:pic>
      <p:sp>
        <p:nvSpPr>
          <p:cNvPr id="57" name="오른쪽 중괄호 56"/>
          <p:cNvSpPr/>
          <p:nvPr/>
        </p:nvSpPr>
        <p:spPr>
          <a:xfrm rot="5400000" flipH="1">
            <a:off x="5170729" y="3690871"/>
            <a:ext cx="421298" cy="2656010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p>
            <a:pPr lvl="0" algn="ctr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58" name="가로 글상자 57"/>
          <p:cNvSpPr txBox="1"/>
          <p:nvPr/>
        </p:nvSpPr>
        <p:spPr>
          <a:xfrm>
            <a:off x="3672872" y="5778804"/>
            <a:ext cx="818153" cy="21424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800"/>
              <a:t>로컬 스토리지</a:t>
            </a:r>
            <a:endParaRPr lang="ko-KR" altLang="en-US" sz="800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88641" y="5308744"/>
            <a:ext cx="441485" cy="441485"/>
          </a:xfrm>
          <a:prstGeom prst="rect">
            <a:avLst/>
          </a:prstGeom>
        </p:spPr>
      </p:pic>
      <p:sp>
        <p:nvSpPr>
          <p:cNvPr id="60" name="가로 글상자 59"/>
          <p:cNvSpPr txBox="1"/>
          <p:nvPr/>
        </p:nvSpPr>
        <p:spPr>
          <a:xfrm>
            <a:off x="6328882" y="5772298"/>
            <a:ext cx="818153" cy="21424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800"/>
              <a:t>DB</a:t>
            </a:r>
            <a:endParaRPr lang="en-US" altLang="ko-KR" sz="800"/>
          </a:p>
        </p:txBody>
      </p:sp>
      <p:grpSp>
        <p:nvGrpSpPr>
          <p:cNvPr id="71" name=""/>
          <p:cNvGrpSpPr/>
          <p:nvPr/>
        </p:nvGrpSpPr>
        <p:grpSpPr>
          <a:xfrm rot="0">
            <a:off x="7923840" y="4829941"/>
            <a:ext cx="3474163" cy="1184817"/>
            <a:chOff x="3825272" y="4960627"/>
            <a:chExt cx="3474163" cy="1184817"/>
          </a:xfrm>
        </p:grpSpPr>
        <p:pic>
          <p:nvPicPr>
            <p:cNvPr id="66" name="그림 65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3990946" y="5472974"/>
              <a:ext cx="429654" cy="429654"/>
            </a:xfrm>
            <a:prstGeom prst="rect">
              <a:avLst/>
            </a:prstGeom>
          </p:spPr>
        </p:pic>
        <p:sp>
          <p:nvSpPr>
            <p:cNvPr id="67" name="오른쪽 중괄호 66"/>
            <p:cNvSpPr/>
            <p:nvPr/>
          </p:nvSpPr>
          <p:spPr>
            <a:xfrm rot="5400000" flipH="1">
              <a:off x="5323129" y="3843271"/>
              <a:ext cx="421298" cy="2656010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68" name="가로 글상자 67"/>
            <p:cNvSpPr txBox="1"/>
            <p:nvPr/>
          </p:nvSpPr>
          <p:spPr>
            <a:xfrm>
              <a:off x="3825272" y="5931204"/>
              <a:ext cx="818153" cy="21424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800"/>
                <a:t>로컬 스토리지</a:t>
              </a:r>
              <a:endParaRPr lang="ko-KR" altLang="en-US" sz="800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6641041" y="5461144"/>
              <a:ext cx="441485" cy="441485"/>
            </a:xfrm>
            <a:prstGeom prst="rect">
              <a:avLst/>
            </a:prstGeom>
          </p:spPr>
        </p:pic>
        <p:sp>
          <p:nvSpPr>
            <p:cNvPr id="70" name="가로 글상자 69"/>
            <p:cNvSpPr txBox="1"/>
            <p:nvPr/>
          </p:nvSpPr>
          <p:spPr>
            <a:xfrm>
              <a:off x="6481282" y="5924698"/>
              <a:ext cx="818153" cy="21424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en-US" altLang="ko-KR" sz="800"/>
                <a:t>DB</a:t>
              </a:r>
              <a:endParaRPr lang="en-US" altLang="ko-KR" sz="800"/>
            </a:p>
          </p:txBody>
        </p:sp>
      </p:grpSp>
      <p:grpSp>
        <p:nvGrpSpPr>
          <p:cNvPr id="76" name=""/>
          <p:cNvGrpSpPr/>
          <p:nvPr/>
        </p:nvGrpSpPr>
        <p:grpSpPr>
          <a:xfrm rot="0">
            <a:off x="10477268" y="6222670"/>
            <a:ext cx="845528" cy="267614"/>
            <a:chOff x="10456448" y="6212469"/>
            <a:chExt cx="845528" cy="267614"/>
          </a:xfrm>
        </p:grpSpPr>
        <p:cxnSp>
          <p:nvCxnSpPr>
            <p:cNvPr id="73" name="화살표 72"/>
            <p:cNvCxnSpPr/>
            <p:nvPr/>
          </p:nvCxnSpPr>
          <p:spPr>
            <a:xfrm>
              <a:off x="10608425" y="6212469"/>
              <a:ext cx="496105" cy="0"/>
            </a:xfrm>
            <a:prstGeom prst="straightConnector1">
              <a:avLst/>
            </a:prstGeom>
            <a:ln>
              <a:solidFill>
                <a:srgbClr val="1b17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가로 글상자 73"/>
            <p:cNvSpPr txBox="1"/>
            <p:nvPr/>
          </p:nvSpPr>
          <p:spPr>
            <a:xfrm>
              <a:off x="10456448" y="6212469"/>
              <a:ext cx="845528" cy="26761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en-US" altLang="ko-KR" sz="1200"/>
                <a:t>REST API</a:t>
              </a:r>
              <a:endParaRPr lang="en-US" altLang="ko-KR" sz="1200"/>
            </a:p>
          </p:txBody>
        </p:sp>
      </p:grpSp>
    </p:spTree>
    <p:extLst>
      <p:ext uri="{BB962C8B-B14F-4D97-AF65-F5344CB8AC3E}">
        <p14:creationId xmlns:p14="http://schemas.microsoft.com/office/powerpoint/2010/main" val="209978746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88" y="720969"/>
            <a:ext cx="10972798" cy="4525963"/>
          </a:xfrm>
        </p:spPr>
        <p:txBody>
          <a:bodyPr/>
          <a:p>
            <a:pPr marL="0" lvl="0" indent="0">
              <a:buNone/>
              <a:defRPr/>
            </a:pPr>
            <a:r>
              <a:rPr lang="ko-KR" altLang="en-US" sz="800"/>
              <a:t>라이선스</a:t>
            </a:r>
            <a:r>
              <a:rPr lang="en-US" altLang="ko-KR" sz="800"/>
              <a:t>:</a:t>
            </a:r>
            <a:r>
              <a:rPr lang="ko-KR" altLang="en-US" sz="800"/>
              <a:t> </a:t>
            </a:r>
            <a:r>
              <a:rPr lang="en-US" altLang="ko-KR" sz="800"/>
              <a:t>https://www.flaticon.com/kr/free-icon/firewall_8844432?term=%EB%B0%A9%ED%99%94%EB%B2%BD&amp;page=1&amp;position=15&amp;origin=search&amp;related_id=8844432</a:t>
            </a:r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178059893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</ep:Words>
  <ep:PresentationFormat>화면 슬라이드 쇼(4:3)</ep:PresentationFormat>
  <ep:Paragraphs>31</ep:Paragraphs>
  <ep:Slides>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2026-01-22T13:25:22.349</dcterms:created>
  <dc:creator>jiming</dc:creator>
  <cp:lastModifiedBy>jiming</cp:lastModifiedBy>
  <dcterms:modified xsi:type="dcterms:W3CDTF">2026-01-31T10:21:53.745</dcterms:modified>
  <cp:revision>18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